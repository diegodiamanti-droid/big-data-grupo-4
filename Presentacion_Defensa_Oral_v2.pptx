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6de41382-cd0b-0f76-3145-d7d412c74fef}">
          <p14:sldIdLst>
            <p14:sldId id="256"/>
            <p14:sldId id="257"/>
          </p14:sldIdLst>
        </p14:section>
        <p14:section name="Consultas" id="{b2465ba2-68d6-7796-32bd-58dc712b961c}">
          <p14:sldIdLst>
            <p14:sldId id="258"/>
            <p14:sldId id="259"/>
            <p14:sldId id="260"/>
          </p14:sldIdLst>
        </p14:section>
        <p14:section name="Machine learning" id="{70ff4e13-6958-49e2-a58a-4f82b3831f14}">
          <p14:sldIdLst>
            <p14:sldId id="261"/>
            <p14:sldId id="262"/>
          </p14:sldIdLst>
        </p14:section>
        <p14:section name="Benchmark y cierre" id="{b020289c-a2fa-4939-119f-e7e2c6c1926b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Tamaño del dataset (MB)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Tamaño (MB)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355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CSV original</c:v>
                  </c:pt>
                  <c:pt idx="1">
                    <c:v>Parquet ZSTD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2917</c:v>
                </c:pt>
                <c:pt idx="1">
                  <c:v>491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C4 · Enfoque A: top 5 celdas con más siniestros graves (Severity ≥ 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Siniestros graves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Atlanta (33.79, −84.39)</c:v>
                  </c:pt>
                  <c:pt idx="1">
                    <c:v>Atlanta (33.74, −84.39)</c:v>
                  </c:pt>
                  <c:pt idx="2">
                    <c:v>Atlanta (33.77, −84.39)</c:v>
                  </c:pt>
                  <c:pt idx="3">
                    <c:v>George Washington Bridge, NY</c:v>
                  </c:pt>
                  <c:pt idx="4">
                    <c:v>Downey, Los Ángeles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1301</c:v>
                </c:pt>
                <c:pt idx="1">
                  <c:v>1372</c:v>
                </c:pt>
                <c:pt idx="2">
                  <c:v>1432</c:v>
                </c:pt>
                <c:pt idx="3">
                  <c:v>1550</c:v>
                </c:pt>
                <c:pt idx="4">
                  <c:v>1619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C6 · % de siniestros graves por autopista (top 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gravedad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I-255</c:v>
                  </c:pt>
                  <c:pt idx="1">
                    <c:v>I-176</c:v>
                  </c:pt>
                  <c:pt idx="2">
                    <c:v>I-126</c:v>
                  </c:pt>
                  <c:pt idx="3">
                    <c:v>I-478</c:v>
                  </c:pt>
                  <c:pt idx="4">
                    <c:v>I-57</c:v>
                  </c:pt>
                  <c:pt idx="5">
                    <c:v>I-72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74.6</c:v>
                </c:pt>
                <c:pt idx="1">
                  <c:v>75.3</c:v>
                </c:pt>
                <c:pt idx="2">
                  <c:v>76.2</c:v>
                </c:pt>
                <c:pt idx="3">
                  <c:v>79.5</c:v>
                </c:pt>
                <c:pt idx="4">
                  <c:v>81.1</c:v>
                </c:pt>
                <c:pt idx="5">
                  <c:v>92.2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Tiempo medio de despeje (minutos)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 hábil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Día (Sunrise_Sunset)</c:v>
                  </c:pt>
                  <c:pt idx="1">
                    <c:v>Noche (Sunrise_Sunset)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336</c:v>
                </c:pt>
                <c:pt idx="1">
                  <c:v>503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 de semana</c:v>
                </c:pt>
              </c:strCache>
            </c:strRef>
          </c:tx>
          <c:spPr>
            <a:solidFill>
              <a:srgbClr val="C89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Día (Sunrise_Sunset)</c:v>
                  </c:pt>
                  <c:pt idx="1">
                    <c:v>Noche (Sunrise_Sunset)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532</c:v>
                </c:pt>
                <c:pt idx="1">
                  <c:v>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El modelo frente a la clase mayoritaria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Predecir siempre Severidad 2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Exactitud (%)</c:v>
                  </c:pt>
                  <c:pt idx="1">
                    <c:v>F1 ponderado (×100)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79.7</c:v>
                </c:pt>
                <c:pt idx="1">
                  <c:v>70.7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Árbol de decisión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Exactitud (%)</c:v>
                  </c:pt>
                  <c:pt idx="1">
                    <c:v>F1 ponderado (×100)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79.8</c:v>
                </c:pt>
                <c:pt idx="1">
                  <c:v>71.4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Tiempo de ejecución (segundos, wall-clock)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Pandas</c:v>
                </c:pt>
              </c:strCache>
            </c:strRef>
          </c:tx>
          <c:spPr>
            <a:solidFill>
              <a:srgbClr val="C896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C3 Haversine</c:v>
                  </c:pt>
                  <c:pt idx="1">
                    <c:v>C4 Hotspots</c:v>
                  </c:pt>
                  <c:pt idx="2">
                    <c:v>C6 Autopistas</c:v>
                  </c:pt>
                  <c:pt idx="3">
                    <c:v>C8 Anomalías</c:v>
                  </c:pt>
                  <c:pt idx="4">
                    <c:v>C10 Despeje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2.53</c:v>
                </c:pt>
                <c:pt idx="1">
                  <c:v>6.28</c:v>
                </c:pt>
                <c:pt idx="2">
                  <c:v>22.69</c:v>
                </c:pt>
                <c:pt idx="3">
                  <c:v>13.16</c:v>
                </c:pt>
                <c:pt idx="4">
                  <c:v>49.25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PySpark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C3 Haversine</c:v>
                  </c:pt>
                  <c:pt idx="1">
                    <c:v>C4 Hotspots</c:v>
                  </c:pt>
                  <c:pt idx="2">
                    <c:v>C6 Autopistas</c:v>
                  </c:pt>
                  <c:pt idx="3">
                    <c:v>C8 Anomalías</c:v>
                  </c:pt>
                  <c:pt idx="4">
                    <c:v>C10 Despeje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42.19</c:v>
                </c:pt>
                <c:pt idx="1">
                  <c:v>11.45</c:v>
                </c:pt>
                <c:pt idx="2">
                  <c:v>11.69</c:v>
                </c:pt>
                <c:pt idx="3">
                  <c:v>31.53</c:v>
                </c:pt>
                <c:pt idx="4">
                  <c:v>34.16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Juan Diego (0:45). Presentar grupo, dataset (7,7 millones de siniestros) y los dos ejes: comparar Pandas y Spark en cinco consultas y entrenar un modelo con Spark MLlib.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Juan Diego (1:30). CSV de 2,9 GB a Parquet ZSTD de 491 MB. El orden físico por coordenadas permite descartar bloques en filtros espaciales. Entorno: notebook local con i5-1135G7 y 16 GB; también corre en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Juan Diego (1:45). C3 usa la fórmula de Haversine con radio de 25 km. C4 es la consulta común: definimos dos criterios. A prioriza gravedad a nivel nacional; B mide congestión en California. Una Haversine de todos contra todos sería O(N²) y no entra en memoria; por eso usamos una grilla, que es O(N). Paso a Diego.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Diego (2:00). C6: índice de gravedad = graves / totales, con soporte mínimo; I-72 lidera por tasa, I-95 por volumen. C8: doble perspectiva, volumen frente a rareza. Ohio el 23-12-2022 coincide con la tormenta invernal Elliott.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Diego (2:00). Matriz de cuatro cuadrantes; la de ocho agrega el crepúsculo astronómico. Ojo: en esta consulta Pandas y Spark no incluyen la misma cantidad de registros (6,97 M frente a 7,71 M); los minutos del gráfico son los de Pandas. Paso a Melisa.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Melisa (1:30). Elegimos la opción A, clasificación. Hipótesis: clima, ubicación e iluminación alcanzan para anticipar la severidad. maxBins = 60 porque State tiene 49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Melisa (1:30). Referencia calculada con la distribución del dataset completo (6.156.981 de 7.728.394 registros son Severidad 2). Conviene recalcularla sobre el conjunto de test en el notebook. Mostrar el resultado tal cual: es una lección sobre desbalance de clases.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Melisa (1:30). Tiempos de la ejecución del notebook entregado. Pandas gana filtros y agregaciones simples (C3, C4, C8); Spark gana en C6 (regex y agrupación) y C10 (agregación sobre 7,7 M filas), con 1,4–1,9×. El costo fijo de arrancar la JVM pesa mucho en consultas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Melisa (1:00). Cuatro lecciones: formato, elección de herramienta según la operación, doble perspectiva y lectura correcta de métricas con clases desbalanceadas.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Expone Melisa. Abrir a preguntas (3 minutos).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91640"/>
            <a:ext cx="106070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07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Big Data · Proyecto final integrador · Grupo 4 · Maestría en IA · Universidad de Palermo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UNIVERSIDAD DE PALERMO · MAESTRÍA EN INTELIGENCIA ARTIFICIAL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Big Data · Proyecto final integrador · Defensa oral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69164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Procesamiento distribuido y analítica de accidentes viales en EE. UU. (2016–2023)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749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de Pandas frente a Apache Spark y clasificación de severidad con Spark MLlib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800600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983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Grupo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Diego Diamanti · Melisa Maldonado · Juan Diego Weber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Octubre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arquitectura de almacenamiento y entorno de cómputo</a:t>
            </a:r>
            <a:endParaRPr lang="en-US" sz="2800" dirty="0"/>
          </a:p>
        </p:txBody>
      </p:sp>
      <p:sp>
        <p:nvSpPr>
          <p:cNvPr id="3" name="registros (2016–2023)"/>
          <p:cNvSpPr/>
          <p:nvPr/>
        </p:nvSpPr>
        <p:spPr>
          <a:xfrm>
            <a:off x="548640" y="132588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7,73 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registros (2016–2023)</a:t>
            </a:r>
            <a:endParaRPr lang="en-US" sz="1300" dirty="0"/>
          </a:p>
        </p:txBody>
      </p:sp>
      <p:sp>
        <p:nvSpPr>
          <p:cNvPr id="6" name="atributos"/>
          <p:cNvSpPr/>
          <p:nvPr/>
        </p:nvSpPr>
        <p:spPr>
          <a:xfrm>
            <a:off x="2514600" y="132588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atributos</a:t>
            </a:r>
            <a:endParaRPr lang="en-US" sz="1300" dirty="0"/>
          </a:p>
        </p:txBody>
      </p:sp>
      <p:sp>
        <p:nvSpPr>
          <p:cNvPr id="9" name="tamaño en disco"/>
          <p:cNvSpPr/>
          <p:nvPr/>
        </p:nvSpPr>
        <p:spPr>
          <a:xfrm>
            <a:off x="4480560" y="1325880"/>
            <a:ext cx="17830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−83%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tamaño en disco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743200"/>
          <a:ext cx="5715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Almacenamiento"/>
          <p:cNvSpPr/>
          <p:nvPr/>
        </p:nvSpPr>
        <p:spPr>
          <a:xfrm>
            <a:off x="6583680" y="1325880"/>
            <a:ext cx="5029200" cy="2423160"/>
          </a:xfrm>
          <a:prstGeom prst="roundRect">
            <a:avLst>
              <a:gd name="adj" fmla="val 30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1463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Decisiones de almacenamiento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Parquet columnar con compresión ZSTD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Orden físico por latitud y longitud: bloques agrupados geográficamente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Estadísticas min/max por bloque: permiten descartar bloques sin leerlos (predicate pushdown)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9319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 de cómputo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i5-1135G7 · 4 núcleos / 8 hilos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 RAM DDR4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 Home 64-bit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 · PySpark 3.5.0 · OpenJDK 17 · Pandas + PyArrow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3 y 4: búsqueda por radio y puntos más peligrosos</a:t>
            </a:r>
            <a:endParaRPr lang="en-US" sz="2800" dirty="0"/>
          </a:p>
        </p:txBody>
      </p:sp>
      <p:sp>
        <p:nvSpPr>
          <p:cNvPr id="3" name="C3"/>
          <p:cNvSpPr/>
          <p:nvPr/>
        </p:nvSpPr>
        <p:spPr>
          <a:xfrm>
            <a:off x="548640" y="1325880"/>
            <a:ext cx="44805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CONSULTA 3 · HAVERSINE, R = 25 KM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Los Ángeles: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361.038 siniestros en el radio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Nueva York: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269.717 siniestros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Resultados idénticos en Pandas y Spark; ordenados por distancia al centro.</a:t>
            </a:r>
            <a:endParaRPr lang="en-US" sz="1500" dirty="0"/>
          </a:p>
        </p:txBody>
      </p:sp>
      <p:sp>
        <p:nvSpPr>
          <p:cNvPr id="6" name="Criterio C4"/>
          <p:cNvSpPr/>
          <p:nvPr/>
        </p:nvSpPr>
        <p:spPr>
          <a:xfrm>
            <a:off x="548640" y="3840480"/>
            <a:ext cx="4480560" cy="2286000"/>
          </a:xfrm>
          <a:prstGeom prst="roundRect">
            <a:avLst>
              <a:gd name="adj" fmla="val 32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977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CONSULTA 4 · CRITERIO DE PELIGROSIDAD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Enfoque 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siniestros con Severity ≥ 3 en celdas de ~2,2 km, a nivel nacional.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Enfoque B: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densidad total en celdas de ~5 km en California. Máximo: centro de Los Ángeles, 50.254 siniestros.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303520" y="1280160"/>
          <a:ext cx="63093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6 y 8: autopistas críticas y días anómalos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Vías normalizadas con la expresión regular I-\d+ | US-\d+ (unifica sentidos como «I-95 N» e «I-95 S»).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En volumen absoluto lidera la I-95: 62.202 siniestros graves y 95,7 min de despeje promedio.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3258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CONSULTA 8 · DÍAS POR ENCIMA DE 3σ DE LA MEDIA DEL ESTADO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68580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y fecha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· 29-01-2021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volumen absoluto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· 18-02-2022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23,2σ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rareza estadística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 · 23-12-2022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Tormenta Elliott: viento 26 mph, visibilidad 1,3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 · 05-01-2022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 2,8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Lectura C8"/>
          <p:cNvSpPr/>
          <p:nvPr/>
        </p:nvSpPr>
        <p:spPr>
          <a:xfrm>
            <a:off x="6309360" y="4434840"/>
            <a:ext cx="5303520" cy="1691640"/>
          </a:xfrm>
          <a:prstGeom prst="roundRect">
            <a:avLst>
              <a:gd name="adj" fmla="val 432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53796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1.171 días anómalos en total.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volumen absoluto lo domina California por población; el Z-score por estado detecta eventos raros en estados con poco tráfico, que el volumen esconde.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10: tiempo de despeje según iluminación y tipo de día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3093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223760" y="1325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 h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961120" y="1325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día hábil con luz solar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 h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noche de fin de semana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12,9 h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noche cerrada (sin crepúsculo) de fin de semana: 2,3× el día hábil</a:t>
            </a:r>
            <a:endParaRPr lang="en-US" sz="1400" dirty="0"/>
          </a:p>
        </p:txBody>
      </p:sp>
      <p:sp>
        <p:nvSpPr>
          <p:cNvPr id="10" name="Hipótesis C10"/>
          <p:cNvSpPr/>
          <p:nvPr/>
        </p:nvSpPr>
        <p:spPr>
          <a:xfrm>
            <a:off x="7223760" y="4937760"/>
            <a:ext cx="4389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5029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Explicación posible, no verificada con estos datos: menor disponibilidad de grúas y cuadrillas fuera del horario hábil.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Consigna 6: clasificación de severidad con Spark MLlib</a:t>
            </a:r>
            <a:endParaRPr lang="en-US" sz="2800" dirty="0"/>
          </a:p>
        </p:txBody>
      </p:sp>
      <p:sp>
        <p:nvSpPr>
          <p:cNvPr id="3" name="Problema"/>
          <p:cNvSpPr/>
          <p:nvPr/>
        </p:nvSpPr>
        <p:spPr>
          <a:xfrm>
            <a:off x="548640" y="13258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Predecir Severity (1 a 4) al momento del reporte, para priorizar el despacho de emergencias.</a:t>
            </a:r>
            <a:endParaRPr lang="en-US" sz="1400" dirty="0"/>
          </a:p>
        </p:txBody>
      </p:sp>
      <p:sp>
        <p:nvSpPr>
          <p:cNvPr id="8" name="Paradigma"/>
          <p:cNvSpPr/>
          <p:nvPr/>
        </p:nvSpPr>
        <p:spPr>
          <a:xfrm>
            <a:off x="4297680" y="13258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691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Clasificación supervisada multiclase con DecisionTreeClassifier (maxDepth = 10, maxBins = 60 para los 49 estados).</a:t>
            </a:r>
            <a:endParaRPr lang="en-US" sz="1400" dirty="0"/>
          </a:p>
        </p:txBody>
      </p:sp>
      <p:sp>
        <p:nvSpPr>
          <p:cNvPr id="13" name="Sin fuga de información"/>
          <p:cNvSpPr/>
          <p:nvPr/>
        </p:nvSpPr>
        <p:spPr>
          <a:xfrm>
            <a:off x="8046720" y="13258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fuga de información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excluyen variables posteriores al impacto: End_Time, duración y Distance(mi).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3749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PIPELINE DE PYSPARK.ML</a:t>
            </a:r>
            <a:endParaRPr lang="en-US" sz="1200" dirty="0"/>
          </a:p>
        </p:txBody>
      </p:sp>
      <p:sp>
        <p:nvSpPr>
          <p:cNvPr id="19" name="dropna"/>
          <p:cNvSpPr/>
          <p:nvPr/>
        </p:nvSpPr>
        <p:spPr>
          <a:xfrm>
            <a:off x="548640" y="4114800"/>
            <a:ext cx="1993392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40080" y="41605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dropna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nulos en predictores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569464" y="4663440"/>
            <a:ext cx="219456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StringIndexer"/>
          <p:cNvSpPr/>
          <p:nvPr/>
        </p:nvSpPr>
        <p:spPr>
          <a:xfrm>
            <a:off x="2816352" y="4114800"/>
            <a:ext cx="1993392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907792" y="41605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StringIndexer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State, Sunrise_Sunset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837176" y="4663440"/>
            <a:ext cx="219456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OneHotEncoder"/>
          <p:cNvSpPr/>
          <p:nvPr/>
        </p:nvSpPr>
        <p:spPr>
          <a:xfrm>
            <a:off x="5084064" y="4114800"/>
            <a:ext cx="1993392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175504" y="41605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OneHotEncoder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vectores dispersos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104888" y="4663440"/>
            <a:ext cx="219456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VectorAssembler"/>
          <p:cNvSpPr/>
          <p:nvPr/>
        </p:nvSpPr>
        <p:spPr>
          <a:xfrm>
            <a:off x="7351776" y="4114800"/>
            <a:ext cx="1993392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443216" y="41605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VectorAssembler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54 variables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9372600" y="4663440"/>
            <a:ext cx="219456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DecisionTree"/>
          <p:cNvSpPr/>
          <p:nvPr/>
        </p:nvSpPr>
        <p:spPr>
          <a:xfrm>
            <a:off x="9619488" y="4114800"/>
            <a:ext cx="1993392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710928" y="41605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DecisionTree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80/20, semilla 42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54 variables = 5 numéricas (latitud, longitud, temperatura, humedad, visibilidad) + 48 por estado + 1 por día/noche.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Consigna 6: resultados y evaluación honesta del modelo</a:t>
            </a:r>
            <a:endParaRPr lang="en-US" sz="2800" dirty="0"/>
          </a:p>
        </p:txBody>
      </p:sp>
      <p:sp>
        <p:nvSpPr>
          <p:cNvPr id="3" name="exactitud en test"/>
          <p:cNvSpPr/>
          <p:nvPr/>
        </p:nvSpPr>
        <p:spPr>
          <a:xfrm>
            <a:off x="548640" y="132588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79,8%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3258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exactitud en test</a:t>
            </a:r>
            <a:endParaRPr lang="en-US" sz="1400" dirty="0"/>
          </a:p>
        </p:txBody>
      </p:sp>
      <p:sp>
        <p:nvSpPr>
          <p:cNvPr id="6" name="F1 ponderado"/>
          <p:cNvSpPr/>
          <p:nvPr/>
        </p:nvSpPr>
        <p:spPr>
          <a:xfrm>
            <a:off x="548640" y="237744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3774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F1 ponderado</a:t>
            </a:r>
            <a:endParaRPr lang="en-US" sz="1400" dirty="0"/>
          </a:p>
        </p:txBody>
      </p:sp>
      <p:sp>
        <p:nvSpPr>
          <p:cNvPr id="9" name="entrenamiento y evaluación"/>
          <p:cNvSpPr/>
          <p:nvPr/>
        </p:nvSpPr>
        <p:spPr>
          <a:xfrm>
            <a:off x="548640" y="342900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 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4290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entrenamiento y evaluación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663440" y="128016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Lectura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681728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Lectura: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Severidad 2 es el 79,7% del dataset, así que predecirla siempre ya da casi la misma exactitud. El árbol apenas mejora esa referencia: la hipótesis no queda confirmada con estas métricas.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Próximos pasos: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reformular como Severity ≥ 3 frente al resto, ponderar clases y reportar ROC-AUC y recall de las clases graves.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Benchmarking: Pandas frente a PySpark en las cinco consultas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400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25880"/>
          <a:ext cx="4389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rápido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223760" y="370332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Protocolo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Speedup = T_Pandas / T_Spark (&gt; 1: gana Spark)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time.perf_counter() y acción terminal en Spark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OOM evitado: Haversine todos contra todos requeriría ~238 TB; la grilla lo baja a O(N)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técnicas y lecciones de arquitectura</a:t>
            </a:r>
            <a:endParaRPr lang="en-US" sz="2800" dirty="0"/>
          </a:p>
        </p:txBody>
      </p:sp>
      <p:sp>
        <p:nvSpPr>
          <p:cNvPr id="3" name="El formato manda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formato manda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Parquet ZSTD con orden espacial redujo el 83% del tamaño y permitió trabajar en forma interactiva con ambas herramientas.</a:t>
            </a:r>
            <a:endParaRPr lang="en-US" sz="1400" dirty="0"/>
          </a:p>
        </p:txBody>
      </p:sp>
      <p:sp>
        <p:nvSpPr>
          <p:cNvPr id="8" name="No hay una herramienta única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600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una herramienta única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2860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Pandas gana en filtros simples que entran en memoria; Spark gana cuando hay regex, agrupaciones y shuffle (C6, C10) y es la opción para escalar fuera de un nodo.</a:t>
            </a:r>
            <a:endParaRPr lang="en-US" sz="1400" dirty="0"/>
          </a:p>
        </p:txBody>
      </p:sp>
      <p:sp>
        <p:nvSpPr>
          <p:cNvPr id="13" name="Dos perspectivas por consulta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perspectivas por consulta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7548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Separar volumen absoluto de tasa relativa evita conclusiones sesgadas por población (California, I-95).</a:t>
            </a:r>
            <a:endParaRPr lang="en-US" sz="1400" dirty="0"/>
          </a:p>
        </p:txBody>
      </p:sp>
      <p:sp>
        <p:nvSpPr>
          <p:cNvPr id="18" name="Cuidado con el desbalance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206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 con el desbalance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7548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exactitud de 80% no alcanza cuando una clase es el 80% de los datos: hay que comparar contra la clase mayoritaria.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¿Preguntas?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0175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Código reproducible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github.com/diegodiamanti-droid/BIG-DATA-GRUPO-4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Notebook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BIG-DATA-GRUPO-4-Colab.ipynb (local y Google Colab)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Artículo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Plantilla institucional Formato_Investigadores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 Data Grupo 4">
  <a:themeElements>
    <a:clrScheme name="Big Data Grupo 4">
      <a:dk1>
        <a:srgbClr val="1F2A37"/>
      </a:dk1>
      <a:lt1>
        <a:srgbClr val="FFFFFF"/>
      </a:lt1>
      <a:dk2>
        <a:srgbClr val="1D3557"/>
      </a:dk2>
      <a:lt2>
        <a:srgbClr val="F3F5F6"/>
      </a:lt2>
      <a:accent1>
        <a:srgbClr val="1D3557"/>
      </a:accent1>
      <a:accent2>
        <a:srgbClr val="C8962E"/>
      </a:accent2>
      <a:accent3>
        <a:srgbClr val="6B7280"/>
      </a:accent3>
      <a:accent4>
        <a:srgbClr val="DCE5EF"/>
      </a:accent4>
      <a:accent5>
        <a:srgbClr val="F5EBD8"/>
      </a:accent5>
      <a:accent6>
        <a:srgbClr val="9B3B2E"/>
      </a:accent6>
      <a:hlink>
        <a:srgbClr val="1D3557"/>
      </a:hlink>
      <a:folHlink>
        <a:srgbClr val="6B7280"/>
      </a:folHlink>
    </a:clrScheme>
    <a:fontScheme name="Big Data Grupo 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— Proyecto final integrador — Grupo 4</dc:title>
  <dc:subject>PptxGenJS Presentation</dc:subject>
  <dc:creator>Diego Diamanti, Melisa Maldonado, Juan Diego Weber</dc:creator>
  <cp:lastModifiedBy>Diego Diamanti, Melisa Maldonado, Juan Diego Weber</cp:lastModifiedBy>
  <cp:revision>1</cp:revision>
  <dcterms:created xsi:type="dcterms:W3CDTF">2026-10-09T14:57:43Z</dcterms:created>
  <dcterms:modified xsi:type="dcterms:W3CDTF">2026-10-09T14:57:43Z</dcterms:modified>
</cp:coreProperties>
</file>